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V5 BLUEPRINT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Freight Operating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Vision + CTO Architecture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Economics + HITL + Commercial 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Summit  •  April 2026  •  Confidential</a:t>
            </a:r>
            <a:endParaRPr lang="en-US" sz="1400" dirty="0"/>
          </a:p>
        </p:txBody>
      </p:sp>
      <p:pic>
        <p:nvPicPr>
          <p:cNvPr id="7" name="Image 0" descr="/sessions/busy-happy-fermat/v4_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548640"/>
            <a:ext cx="329184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New in V5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was the technical architecture. V5 adds commercial strategy, financial lifecycle, and the headless north star.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4754880"/>
                <a:gridCol w="822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Sections 1–11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Preserved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Original V4 content with targeted enhancements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Section 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Enhanced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Autonomy graduation framework with confidence thresholds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Section 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Restructured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Parallel-track rollout with revenue milestone gates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Section 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Expanded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Burn model integration, event-based cost model tiers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Section 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Expanded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Commercial &amp; operational risks added to architectural risks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Section 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Invoice-to-Cash lifecycle (Ram’s Phase 5)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Section 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Headless Brokerage north star vision (Ram’s Phase 6)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Section 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Customer onboarding &amp; TMS integration playbook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Section 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Competitive positioning &amp; feature parity matrix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Section 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Pricing, packaging, and unit economics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Section 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Compliance as infrastructure (4 domains, hard/soft gates)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Section 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Cross-border customs lifecycle &amp; financial streams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Executive Thesis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TMS. An autonomous operating layer that turns freight brokerage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an event-driven economic control system.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920240" cy="2560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192024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execute routine path;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govern exceptions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2011680"/>
            <a:ext cx="1920240" cy="2560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2011680"/>
            <a:ext cx="192024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6517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rises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volume, not loads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1920240" cy="2560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011680"/>
            <a:ext cx="1920240" cy="54864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Control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6517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margin governed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in-line, not discovered late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2011680"/>
            <a:ext cx="1920240" cy="2560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2011680"/>
            <a:ext cx="192024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Star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26517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brokerage: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zero-audit logistics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system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adds "Revenue potential" and "Headless brokerage" to the original thesis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Canonical Lifecycle: RFQ to Cash</a:t>
            </a:r>
            <a:endParaRPr lang="en-US" sz="3200" dirty="0"/>
          </a:p>
        </p:txBody>
      </p:sp>
      <p:pic>
        <p:nvPicPr>
          <p:cNvPr id="3" name="Image 0" descr="/sessions/busy-happy-fermat/v4_unpacked/word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Canonical lifecycle from inbound demand to financial realization.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56616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3B66"/>
                </a:solidFill>
              </a:rPr>
              <a:t>Lifecycle Design Rules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 Upstream decisions must preserve downstream financial truth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 Operational completion ≠ billing eligibility (Delivered ≠ Invoice-ready)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•  V5: Lifecycle now extends through invoice, settlement, dispute, and cash realization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Reference Architecture</a:t>
            </a:r>
            <a:endParaRPr lang="en-US" sz="3200" dirty="0"/>
          </a:p>
        </p:txBody>
      </p:sp>
      <p:pic>
        <p:nvPicPr>
          <p:cNvPr id="3" name="Image 0" descr="/sessions/busy-happy-fermat/v4_unpacked/word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029200" cy="3017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0" y="914400"/>
            <a:ext cx="347472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0" y="914400"/>
            <a:ext cx="54864" cy="8229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0" y="914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Control Plane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margin governance,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trust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0" y="1874520"/>
            <a:ext cx="347472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0" y="1874520"/>
            <a:ext cx="54864" cy="82296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Fabric + Workflow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transitions, retries, timers,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escalation, audit logs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2834640"/>
            <a:ext cx="347472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0" y="2834640"/>
            <a:ext cx="54864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0" y="2834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Agent Systems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Quoting, procurement, execution,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disputes, settlement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0" y="3794760"/>
            <a:ext cx="347472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0" y="3794760"/>
            <a:ext cx="54864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0" y="3794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Plane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69280" y="4114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Sylectus TMS API, DAT APIs,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EDI, GPS/ELD, RPA fallbacks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 boundaries: Quoting, Procurement, Execution, Documents, Financials  |  Anchor: Sylectus + DAT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4–5. State Machines &amp; Agent Hierarchy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 State Machines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4206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383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Object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Core States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RFQ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Received → Parsed → Priced → Sent → Won/Lost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Load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Created → Covered → Dispatched → Transit → Delivered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Documents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Missing → Received → Parsed → Validated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Billing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Pending → Eligible → Issued → Accepted → Paid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Settlement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Pending → Matched → Approved → Paid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Fleet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0" y="1280160"/>
            <a:ext cx="384048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0" y="1280160"/>
            <a:ext cx="3840480" cy="54864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8" name="Text 5"/>
          <p:cNvSpPr/>
          <p:nvPr/>
        </p:nvSpPr>
        <p:spPr>
          <a:xfrm>
            <a:off x="521208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Orchestrator, Profit &amp; Risk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Governor, Compliance &amp; Trust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0" y="2331720"/>
            <a:ext cx="384048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233172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9"/>
          <p:cNvSpPr/>
          <p:nvPr/>
        </p:nvSpPr>
        <p:spPr>
          <a:xfrm>
            <a:off x="521208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1208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Pricing, Carrier Selection,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Billing, Settlement, Dispute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3383280"/>
            <a:ext cx="384048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0" y="3383280"/>
            <a:ext cx="384048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3"/>
          <p:cNvSpPr/>
          <p:nvPr/>
        </p:nvSpPr>
        <p:spPr>
          <a:xfrm>
            <a:off x="521208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Cross-cutting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1208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Learning, Escalation,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adds: Rate Audit, Invoice, Payment Match, Settlement, Dispute, and Compliance agents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HITL Model + Autonomy Graduation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0" y="228600"/>
            <a:ext cx="137160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ENHANCED</a:t>
            </a:r>
            <a:endParaRPr lang="en-US" sz="1000" dirty="0"/>
          </a:p>
        </p:txBody>
      </p:sp>
      <p:pic>
        <p:nvPicPr>
          <p:cNvPr id="4" name="Image 0" descr="/sessions/busy-happy-fermat/v5_diagrams/autonomy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2461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3B66"/>
                </a:solidFill>
              </a:rPr>
              <a:t>V5 Enhancement: Features graduate through autonomy levels independently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 Confidence threshold: statistical confidence in decision accuracy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 Volume threshold: minimum historical load count for baseline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 A/B validation: automated vs. human decisions must match or exceed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 Customer consent: each broker sets their own autonomy ceiling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 Monthly reports: % decisions at each level + economic impact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Parallel-Track Rollout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0" y="228600"/>
            <a:ext cx="173736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RESTRUCTURED</a:t>
            </a:r>
            <a:endParaRPr lang="en-US" sz="1000" dirty="0"/>
          </a:p>
        </p:txBody>
      </p:sp>
      <p:pic>
        <p:nvPicPr>
          <p:cNvPr id="4" name="Image 0" descr="/sessions/busy-happy-fermat/v5_diagrams/parallel_roll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777240"/>
            <a:ext cx="896112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never exists alone. Foundation runs parallel to commercial product. Revenue gates at every transition.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Economics &amp; Scaling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0" y="228600"/>
            <a:ext cx="137160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EXPANDED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731520"/>
                <a:gridCol w="1097280"/>
                <a:gridCol w="3931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Load Scale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Automation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Loads/Emp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~1K/mo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70–80%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6–8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125–170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Prove model; train supervisors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~5K/mo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80–90%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15–20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250–330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Exception-centric ops become real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~10K+/mo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90%+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25–35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300–500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Company behaves like software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</a:rPr>
                        <a:t>~50K+/mo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</a:rPr>
                        <a:t>95%+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</a:rPr>
                        <a:t>50–70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</a:rPr>
                        <a:t>700–1,000+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</a:rPr>
                        <a:t>Headless: near-zero marginal cost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Event-Based Cost Model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200400"/>
            <a:ext cx="265176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200400"/>
            <a:ext cx="265176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291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$3.08/load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640" y="4023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margin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297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+ tracking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3200400"/>
            <a:ext cx="265176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3200400"/>
            <a:ext cx="265176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291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83280" y="3611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$6.50/load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383280" y="4023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margin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83280" y="4297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3200400"/>
            <a:ext cx="265176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0" y="3200400"/>
            <a:ext cx="2651760" cy="54864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0" y="3291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3611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$9.08/load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217920" y="4023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margin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17920" y="4297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RFQ-to-cash + autonomy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Risks &amp; Design Guardrails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0" y="228600"/>
            <a:ext cx="137160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EXPANDED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772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411480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Guardrail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Monolithic agents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Keep agents narrow, event-driven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Financial over-automation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Deterministic policy checks + approval thresholds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CES concentration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2nd customer by M9; multi-tenant from day 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V5 NEW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TMS integration complexity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RPA fallback; top 5 TMS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V5 NEW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Scope creep to Phase 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Med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Revenue milestone gates at every phase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V5 NEW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Competitive response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</a:rPr>
                        <a:t>Low–Med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Governed autonomy = 18+ month moat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V5 NEW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Operator resistance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Med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HITL default; opt-in autonomy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V5 NEW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expands risk coverage from 5 architectural risks to 11 risks spanning architecture,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strategy, and operations. Every risk now has a measurable guardrail.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 Invoice-to-Cash Lifecycle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589520" y="228600"/>
            <a:ext cx="128016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V5</a:t>
            </a:r>
            <a:endParaRPr lang="en-US" sz="1000" dirty="0"/>
          </a:p>
        </p:txBody>
      </p:sp>
      <p:pic>
        <p:nvPicPr>
          <p:cNvPr id="4" name="Image 0" descr="/sessions/busy-happy-fermat/v5_diagrams/invoice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731520"/>
            <a:ext cx="896112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Ram’s Phase 5: Complete context-aware real-time audit, smart payments, dispute resolution, settlement &amp; trust clearing house and compliance management system.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 Headless Brokerage: North Star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589520" y="228600"/>
            <a:ext cx="128016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V5</a:t>
            </a:r>
            <a:endParaRPr lang="en-US" sz="1000" dirty="0"/>
          </a:p>
        </p:txBody>
      </p:sp>
      <p:pic>
        <p:nvPicPr>
          <p:cNvPr id="4" name="Image 0" descr="/sessions/busy-happy-fermat/v5_diagrams/headless_v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731520"/>
            <a:ext cx="89611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Ram’s Phase 6: Headless “full loop” autonomous freight brokerage platform — the “zero-audit” logistics nervous system.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 Customer Onboarding &amp; TMS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589520" y="228600"/>
            <a:ext cx="128016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V5</a:t>
            </a:r>
            <a:endParaRPr lang="en-US" sz="1000" dirty="0"/>
          </a:p>
        </p:txBody>
      </p:sp>
      <p:pic>
        <p:nvPicPr>
          <p:cNvPr id="4" name="Image 0" descr="/sessions/busy-happy-fermat/v5_diagrams/tms_inte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731520"/>
            <a:ext cx="896112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6"/>
                </a:solidFill>
              </a:rPr>
              <a:t>30/60/90 Day Ramp: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Connect (Sylectus API + DAT API + data) → Validate (shadow mode, accuracy &gt; 85%) → Go Live (production + KPIs)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8A"/>
                </a:solidFill>
              </a:rPr>
              <a:t>Primary: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Sylectus TMS (API — loads, dispatch, tracking, docs) + DAT (API — rates, carrier sourcing, 1.7M+ trucks)  |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Future: MercuryGate, Turvo (API), legacy TMS (EDI/RPA)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 Competitive Positioning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589520" y="228600"/>
            <a:ext cx="128016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V5</a:t>
            </a:r>
            <a:endParaRPr lang="en-US" sz="1000" dirty="0"/>
          </a:p>
        </p:txBody>
      </p:sp>
      <p:pic>
        <p:nvPicPr>
          <p:cNvPr id="4" name="Image 0" descr="/sessions/busy-happy-fermat/v5_diagrams/competitive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731520"/>
            <a:ext cx="896112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optimize individual steps. We govern the entire lifecycle autonomously.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architectural (event fabric + governed autonomy), not feature-level.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 Pricing, Packaging &amp; Unit Economics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589520" y="228600"/>
            <a:ext cx="128016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V5</a:t>
            </a:r>
            <a:endParaRPr lang="en-US" sz="1000" dirty="0"/>
          </a:p>
        </p:txBody>
      </p:sp>
      <p:pic>
        <p:nvPicPr>
          <p:cNvPr id="4" name="Image 0" descr="/sessions/busy-happy-fermat/v5_diagrams/pricing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877824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5204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3B66"/>
                </a:solidFill>
              </a:rPr>
              <a:t>Revenue Expansion: 59x within a single account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Start: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Core tier, 200 loads/mo = $616/month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Grow: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Enterprise tier, 5,000 loads/mo at 20% discount = $36,320/month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Volume discounts: 500+ (10%) | 1,000+ (15%) | 5,000+ (20%) | 10,000+ (platform license)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 Compliance as Infrastructure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589520" y="228600"/>
            <a:ext cx="128016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V5</a:t>
            </a:r>
            <a:endParaRPr lang="en-US" sz="1000" dirty="0"/>
          </a:p>
        </p:txBody>
      </p:sp>
      <p:pic>
        <p:nvPicPr>
          <p:cNvPr id="4" name="Image 0" descr="/sessions/busy-happy-fermat/v5_diagrams/compliance_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731520"/>
            <a:ext cx="896112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291840"/>
            <a:ext cx="384048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291840"/>
            <a:ext cx="38404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383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Gates (Block)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 Expired carrier insurance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 HOS violation on assigned driver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 Missing hazmat endorsement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 Denied party match (customs)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3291840"/>
            <a:ext cx="384048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3291840"/>
            <a:ext cx="384048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3383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Gates (Flag + HITL)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3749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 CSA score approaching threshold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 Driver nearing HOS limit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 Insurance expiring within 30 days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 HTS confidence &lt; 95%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 Cross-Border Customs Lifecycle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589520" y="228600"/>
            <a:ext cx="128016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V5</a:t>
            </a:r>
            <a:endParaRPr lang="en-US" sz="1000" dirty="0"/>
          </a:p>
        </p:txBody>
      </p:sp>
      <p:pic>
        <p:nvPicPr>
          <p:cNvPr id="4" name="Image 0" descr="/sessions/busy-happy-fermat/v5_diagrams/customs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731520"/>
            <a:ext cx="8961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Financial Streams per Cross-Border Load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383280"/>
            <a:ext cx="265176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383280"/>
            <a:ext cx="265176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Freight Charges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794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domestic rates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transportation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3383280"/>
            <a:ext cx="265176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3383280"/>
            <a:ext cx="265176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Customs Brokerage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20440" y="3794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Per-entry + doc fees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classification &amp; filing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383280"/>
            <a:ext cx="265176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3383280"/>
            <a:ext cx="2651760" cy="54864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Duties &amp; Taxes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3794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 costs: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duties, GST/HST, IVA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6"/>
                </a:solidFill>
              </a:rPr>
              <a:t>Cross-border premium: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$12–$15/load vs. $9.08 domestic enterprise  |  </a:t>
            </a:r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</a:rPr>
              <a:t>FTA optimization can offset the premium through duty savings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Reconciled Phase Map: V4 → V5</a:t>
            </a:r>
            <a:endParaRPr lang="en-US" sz="3000" dirty="0"/>
          </a:p>
        </p:txBody>
      </p:sp>
      <p:pic>
        <p:nvPicPr>
          <p:cNvPr id="3" name="Image 0" descr="/sessions/busy-happy-fermat/diagrams/phas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777240"/>
            <a:ext cx="8961120" cy="2468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383280"/>
            <a:ext cx="804672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3429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3B66"/>
                </a:solidFill>
              </a:rPr>
              <a:t>Key V5 Changes to Phase Map: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 Phase 0 + 1 run simultaneously (parallel tracks, not sequential)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 Financial controls are cross-cutting, woven into Phases 1–3 (not deferred to Phase 5)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 Phase 5 redefined: Ram’s audit/payments/disputes/settlement/compliance scope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 Phase 6 added: Headless autonomous platform (Ram’s north star vision)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 Revenue milestone gates required at every phase transition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Milestone Metrics by Phase</a:t>
            </a:r>
            <a:endParaRPr lang="en-US" sz="3000" dirty="0"/>
          </a:p>
        </p:txBody>
      </p:sp>
      <p:pic>
        <p:nvPicPr>
          <p:cNvPr id="3" name="Image 0" descr="/sessions/busy-happy-fermat/diagrams/metrics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2560320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Product 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Business 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Autonomy 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Phase 1 (M1–6)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Quotes/mo, time-to-quote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CES conversion improvement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% quotes auto-generated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Phase 2 (M7–12)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Loads tracked, exception 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2nd customer revenue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% bookings auto-dispatched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Phase 3 (M13–18)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Invoices processed, disputes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ARR trajectory, margin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% at conditional autonomy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V5 Blueprint: Ready for Discussion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18 sections covering the full spectrum: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Technical Architecture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(Sections 1–11: lifecycle, architecture, state machines, agents, HITL, UX, economics)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Commercial Strategy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(Sections 12–16: invoice lifecycle, headless vision, TMS playbook, competitive positioning, pricing)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Compliance &amp; Cross-Border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(Sections 17–18: compliance infrastructure, customs lifecycle, 4 domains, hard/soft gates)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Fundable for investors. Usable by operators. Complete for engineering and commercial execution.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Summit  •  April 2026  •  Confidential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Freight Operating System - V5 Blueprint</dc:title>
  <dc:subject>PptxGenJS Presentation</dc:subject>
  <dc:creator>ShipCES</dc:creator>
  <cp:lastModifiedBy>ShipCES</cp:lastModifiedBy>
  <cp:revision>1</cp:revision>
  <dcterms:created xsi:type="dcterms:W3CDTF">2026-04-08T18:34:17Z</dcterms:created>
  <dcterms:modified xsi:type="dcterms:W3CDTF">2026-04-08T18:34:17Z</dcterms:modified>
</cp:coreProperties>
</file>